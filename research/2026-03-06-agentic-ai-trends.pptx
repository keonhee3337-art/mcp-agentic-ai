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AB4BF"/>
                </a:solidFill>
              </a:rPr>
              <a:t>Trends &amp; Landscape  · 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Research Report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Source: Perplexity API  ·  Keonhee Executive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" cy="64008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Multi-agent orchestration is the defining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179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Single agents are being replaced by coordinated squads of specialized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502920" cy="64008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12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Market growing at 43%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82% of Global 2000 companies plan dedicated AI orchestration budgets in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36976"/>
            <a:ext cx="502920" cy="64008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36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LangGraph is the production-grade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Graph-based state machines — faster and more debuggable than plain LangChain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61104"/>
            <a:ext cx="502920" cy="64008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342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611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MCP is the "USB-C for AI"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902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Standardizes agent-tool connectivity — embedded in healthcare, finance, enterprise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85232"/>
            <a:ext cx="502920" cy="64008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583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85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Only 11% of enterprises are in production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144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40%+ of agentic projects may fail by 2027 — governance is the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Market Outlook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58368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23760" y="1463040"/>
            <a:ext cx="44805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6FD9"/>
                </a:solidFill>
              </a:rPr>
              <a:t>$7.8B → $52B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148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Market size by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3017520"/>
            <a:ext cx="44805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3108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6FD9"/>
                </a:solidFill>
              </a:rPr>
              <a:t>43%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703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Projected growth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572000"/>
            <a:ext cx="44805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4663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6FD9"/>
                </a:solidFill>
              </a:rPr>
              <a:t>1.3B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257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Active by 2028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Framework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7830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972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051560"/>
            <a:ext cx="23317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0972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32461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0972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051560"/>
            <a:ext cx="25146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097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90472"/>
            <a:ext cx="17830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8191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9"/>
                </a:solidFill>
              </a:rPr>
              <a:t>LangGraph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490472"/>
            <a:ext cx="23317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1581912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Graph state machine
(nodes + edges)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490472"/>
            <a:ext cx="3246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15819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Production agentic workflows
Complex multi-step reasoning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490472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81912"/>
            <a:ext cx="2377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✅  Active — preferred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87752"/>
            <a:ext cx="178308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67919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9"/>
                </a:solidFill>
              </a:rPr>
              <a:t>LangChain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2587752"/>
            <a:ext cx="233172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679192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Composable chains
&amp; retrievers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587752"/>
            <a:ext cx="324612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267919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Broad LLM apps
Ecosystem entry 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587752"/>
            <a:ext cx="251460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679192"/>
            <a:ext cx="2377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✅  Active — foundational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85031"/>
            <a:ext cx="17830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76471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9"/>
                </a:solidFill>
              </a:rPr>
              <a:t>CrewAI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685031"/>
            <a:ext cx="23317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76471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Role-based
orchestration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685031"/>
            <a:ext cx="32461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3776471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Structured team-like
multi-agent tasks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685031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776471"/>
            <a:ext cx="2377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✅  Active — strong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82312"/>
            <a:ext cx="178308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73751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9"/>
                </a:solidFill>
              </a:rPr>
              <a:t>AutoGen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4782312"/>
            <a:ext cx="233172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873751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Conversation-based
agent dialogue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4782312"/>
            <a:ext cx="324612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79" y="4873751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Human-in-the-loop
reasoning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4782312"/>
            <a:ext cx="2514600" cy="10515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4873751"/>
            <a:ext cx="2377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⚠️  Merging into
MS Agent Framework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83387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B4BF"/>
                </a:solidFill>
              </a:rPr>
              <a:t>→  Recommendation: Learn LangGraph specifically — it extends LangChain and is the production path for agentic AI 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6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AB4BF"/>
                </a:solidFill>
              </a:rPr>
              <a:t>The "USB-C for AI" — how agents connect to tools, data, and the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651760" cy="1371600"/>
          </a:xfrm>
          <a:prstGeom prst="rect">
            <a:avLst/>
          </a:prstGeom>
          <a:solidFill>
            <a:srgbClr val="1A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B4BF"/>
                </a:solidFill>
              </a:rPr>
              <a:t>97M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Monthly SDK
downloads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08760"/>
            <a:ext cx="2651760" cy="1371600"/>
          </a:xfrm>
          <a:prstGeom prst="rect">
            <a:avLst/>
          </a:prstGeom>
          <a:solidFill>
            <a:srgbClr val="1A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B4BF"/>
                </a:solidFill>
              </a:rPr>
              <a:t>5,800+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MCP servers
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2651760" cy="1371600"/>
          </a:xfrm>
          <a:prstGeom prst="rect">
            <a:avLst/>
          </a:prstGeom>
          <a:solidFill>
            <a:srgbClr val="1A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B4BF"/>
                </a:solidFill>
              </a:rPr>
              <a:t>300+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MCP clients
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508760"/>
            <a:ext cx="2651760" cy="1371600"/>
          </a:xfrm>
          <a:prstGeom prst="rect">
            <a:avLst/>
          </a:prstGeom>
          <a:solidFill>
            <a:srgbClr val="1A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B4BF"/>
                </a:solidFill>
              </a:rPr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Gateway vendors
integrating by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30168"/>
            <a:ext cx="1371600" cy="32004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30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Nov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611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Anthropic launches MCP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24528"/>
            <a:ext cx="1371600" cy="32004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24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Mar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206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OpenAI officially adopts 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18888"/>
            <a:ext cx="1371600" cy="32004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18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Dec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800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Donated to Linux Foundation (Agentic AI Foundation)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13248"/>
            <a:ext cx="1371600" cy="32004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4132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394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75% of gateway vendors expected to integrate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108960"/>
            <a:ext cx="5029200" cy="2377440"/>
          </a:xfrm>
          <a:prstGeom prst="rect">
            <a:avLst/>
          </a:prstGeom>
          <a:solidFill>
            <a:srgbClr val="0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B4BF"/>
                </a:solidFill>
              </a:rPr>
              <a:t>You are already building with 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7033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Notion is connected via MCP in this project. This is the same protocol now adopted by OpenAI, Google, Microsoft, AWS, Azure, and GCP.
Being able to explain MCP — what it is, why it matters, how it works — is a strong differentiator in any AI interview or consulting conversation.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Source: Perplexity API  ·  Keonhee Executive Assistant  ·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2026 Outlook &amp; So What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6576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0" y="1371600"/>
            <a:ext cx="228600" cy="228600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In production (11%)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01952"/>
            <a:ext cx="228600" cy="228600"/>
          </a:xfrm>
          <a:prstGeom prst="rect">
            <a:avLst/>
          </a:prstGeom>
          <a:solidFill>
            <a:srgbClr val="0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5623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Ready to deploy (14%)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432303"/>
            <a:ext cx="228600" cy="228600"/>
          </a:xfrm>
          <a:prstGeom prst="rect">
            <a:avLst/>
          </a:prstGeom>
          <a:solidFill>
            <a:srgbClr val="3A8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8658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Piloting (38%)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962656"/>
            <a:ext cx="228600" cy="228600"/>
          </a:xfrm>
          <a:prstGeom prst="rect">
            <a:avLst/>
          </a:prstGeom>
          <a:solidFill>
            <a:srgbClr val="7FB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91693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Exploring (30%)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493008"/>
            <a:ext cx="228600" cy="228600"/>
          </a:xfrm>
          <a:prstGeom prst="rect">
            <a:avLst/>
          </a:prstGeom>
          <a:solidFill>
            <a:srgbClr val="C0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472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No strategy (7%)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55"/>
                </a:solidFill>
              </a:rPr>
              <a:t>Enterprise Readiness (Deloitte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So What — for Kearney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691640"/>
            <a:ext cx="256032" cy="256032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The gap between exploration and production is large — firms need people who can bridge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697480"/>
            <a:ext cx="256032" cy="256032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Multi-agent architecture is the new org design question for strategy consultants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703320"/>
            <a:ext cx="256032" cy="256032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6576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MCP is infrastructure — understanding protocols separates AI-literate advisors from AI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709160"/>
            <a:ext cx="256032" cy="256032"/>
          </a:xfrm>
          <a:prstGeom prst="rect">
            <a:avLst/>
          </a:prstGeom>
          <a:solidFill>
            <a:srgbClr val="1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663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</a:rPr>
              <a:t>2026 is when patterns come out of the lab into real business — the right moment to 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